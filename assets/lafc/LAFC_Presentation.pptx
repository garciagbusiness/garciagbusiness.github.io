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17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36576" cy="411480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5394960" cy="118186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4000" b="1" dirty="0">
                <a:solidFill>
                  <a:srgbClr val="C39E6A"/>
                </a:solidFill>
              </a:rPr>
              <a:t>LOS ANGELES</a:t>
            </a:r>
          </a:p>
          <a:p>
            <a:pPr algn="r"/>
            <a:r>
              <a:rPr sz="3200" b="0" dirty="0">
                <a:solidFill>
                  <a:srgbClr val="FFFFFF"/>
                </a:solidFill>
              </a:rPr>
              <a:t>FOOTBALL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577840" cy="183434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 algn="l"/>
            <a:r>
              <a:rPr sz="3600" b="1" dirty="0">
                <a:solidFill>
                  <a:srgbClr val="C39E6A"/>
                </a:solidFill>
              </a:rPr>
              <a:t>2026 – 2030</a:t>
            </a:r>
          </a:p>
          <a:p>
            <a:pPr algn="l"/>
            <a:r>
              <a:rPr sz="2400" b="1" dirty="0">
                <a:solidFill>
                  <a:srgbClr val="FFFFFF"/>
                </a:solidFill>
              </a:rPr>
              <a:t>Business &amp; Data Strategy</a:t>
            </a:r>
          </a:p>
          <a:p>
            <a:pPr algn="l"/>
            <a:endParaRPr sz="2400" b="1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D9C49A"/>
                </a:solidFill>
              </a:rPr>
              <a:t>Fan Experience Analysis  ·  Revenue Growth Framework</a:t>
            </a:r>
          </a:p>
          <a:p>
            <a:pPr algn="l"/>
            <a:r>
              <a:rPr sz="1200" b="0" dirty="0">
                <a:solidFill>
                  <a:srgbClr val="D9C49A"/>
                </a:solidFill>
              </a:rPr>
              <a:t>Strategic Roadmap  ·  2026 – 2030 Execution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88952" cy="36576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291072"/>
            <a:ext cx="1179576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D9C49A"/>
                </a:solidFill>
              </a:rPr>
              <a:t>Analyst, Business &amp; Data Strategy  |  Interview Assignment  |  April 2026  |  Prepared for LAFC / Mike Manella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THE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 dirty="0">
                <a:solidFill>
                  <a:srgbClr val="D9C49A"/>
                </a:solidFill>
              </a:rPr>
              <a:t>What I was asked to do — and how I approached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577840" cy="512064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577840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097280"/>
            <a:ext cx="5431536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35607"/>
            <a:ext cx="5431536" cy="22529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Analyze post-event fan survey data from BMO Stadium</a:t>
            </a:r>
          </a:p>
          <a:p>
            <a:pPr algn="l"/>
            <a:endParaRPr sz="1600" b="0" dirty="0">
              <a:solidFill>
                <a:srgbClr val="FFFFFF"/>
              </a:solidFill>
            </a:endParaRPr>
          </a:p>
          <a:p>
            <a:pPr algn="l"/>
            <a:r>
              <a:rPr sz="1600" b="0" dirty="0">
                <a:solidFill>
                  <a:srgbClr val="FFFFFF"/>
                </a:solidFill>
              </a:rPr>
              <a:t>Identify revenue patterns, opportunities, and friction points</a:t>
            </a:r>
          </a:p>
          <a:p>
            <a:pPr algn="l"/>
            <a:endParaRPr sz="1600" b="0" dirty="0">
              <a:solidFill>
                <a:srgbClr val="FFFFFF"/>
              </a:solidFill>
            </a:endParaRPr>
          </a:p>
          <a:p>
            <a:pPr algn="l"/>
            <a:r>
              <a:rPr sz="1600" b="0" dirty="0">
                <a:solidFill>
                  <a:srgbClr val="FFFFFF"/>
                </a:solidFill>
              </a:rPr>
              <a:t>Build a data-driven 2026–2030 business plan</a:t>
            </a:r>
          </a:p>
          <a:p>
            <a:pPr algn="l"/>
            <a:endParaRPr sz="1600" b="0" dirty="0">
              <a:solidFill>
                <a:srgbClr val="FFFFFF"/>
              </a:solidFill>
            </a:endParaRPr>
          </a:p>
          <a:p>
            <a:pPr algn="l"/>
            <a:r>
              <a:rPr sz="1600" b="0" dirty="0">
                <a:solidFill>
                  <a:srgbClr val="FFFFFF"/>
                </a:solidFill>
              </a:rPr>
              <a:t>Deliver clear recommendations backed by specific data points</a:t>
            </a:r>
          </a:p>
          <a:p>
            <a:pPr algn="l"/>
            <a:endParaRPr sz="1600" b="0" dirty="0">
              <a:solidFill>
                <a:srgbClr val="FFFFFF"/>
              </a:solidFill>
            </a:endParaRPr>
          </a:p>
          <a:p>
            <a:pPr algn="l"/>
            <a:r>
              <a:rPr sz="1600" b="0" dirty="0">
                <a:solidFill>
                  <a:srgbClr val="FFFFFF"/>
                </a:solidFill>
              </a:rPr>
              <a:t>Record a 10-minute video walkthrough of 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577840" cy="512064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051560"/>
            <a:ext cx="5577840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1097280"/>
            <a:ext cx="5431536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MY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1435607"/>
            <a:ext cx="5431536" cy="22529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</a:rPr>
              <a:t>1.  Parse and structure 9,246 raw survey records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b="1" dirty="0">
                <a:solidFill>
                  <a:srgbClr val="FFFFFF"/>
                </a:solidFill>
              </a:rPr>
              <a:t>2.  Segment by year, seating tier, membership, spend level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b="1" dirty="0">
                <a:solidFill>
                  <a:srgbClr val="FFFFFF"/>
                </a:solidFill>
              </a:rPr>
              <a:t>3.  Cross-reference feedback themes with revenue data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b="1" dirty="0">
                <a:solidFill>
                  <a:srgbClr val="FFFFFF"/>
                </a:solidFill>
              </a:rPr>
              <a:t>4.  Build three strategic pillars from the findings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b="1" dirty="0">
                <a:solidFill>
                  <a:srgbClr val="FFFFFF"/>
                </a:solidFill>
              </a:rPr>
              <a:t>5.  Model revenue scenarios across five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274320"/>
          </a:xfrm>
          <a:prstGeom prst="rect">
            <a:avLst/>
          </a:prstGeom>
          <a:solidFill>
            <a:srgbClr val="000000"/>
          </a:solidFill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1">
                <a:solidFill>
                  <a:srgbClr val="D9C49A"/>
                </a:solidFill>
              </a:rPr>
              <a:t>Every recommendation in this presentation is anchored to a specific data point from the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THE DATA: 9,246 FAN VOICES  |  2021 –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Post-event surveys from BMO Stadium across MLS, ACFC, and concerts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2148840" cy="118872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329184" y="1106424"/>
            <a:ext cx="2002536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3600" b="1" dirty="0">
                <a:solidFill>
                  <a:srgbClr val="C39E6A"/>
                </a:solidFill>
              </a:rPr>
              <a:t>9,246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618488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Total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929384"/>
            <a:ext cx="2002536" cy="2277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>
                <a:solidFill>
                  <a:srgbClr val="D9C49A"/>
                </a:solidFill>
              </a:rPr>
              <a:t>Collected 2021–2025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051560"/>
            <a:ext cx="2148840" cy="118872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2670048" y="1106424"/>
            <a:ext cx="2002536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3600" b="1">
                <a:solidFill>
                  <a:srgbClr val="C39E6A"/>
                </a:solidFill>
              </a:rPr>
              <a:t>$338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618488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Avg Fan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929384"/>
            <a:ext cx="2002536" cy="2277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dirty="0">
                <a:solidFill>
                  <a:srgbClr val="D9C49A"/>
                </a:solidFill>
              </a:rPr>
              <a:t>Per event visit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051560"/>
            <a:ext cx="2148840" cy="118872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010912" y="1106424"/>
            <a:ext cx="2002536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3600" b="1">
                <a:solidFill>
                  <a:srgbClr val="C39E6A"/>
                </a:solidFill>
              </a:rPr>
              <a:t>$2.26M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1618488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Total Spend 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929384"/>
            <a:ext cx="2002536" cy="2277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dirty="0">
                <a:solidFill>
                  <a:srgbClr val="D9C49A"/>
                </a:solidFill>
              </a:rPr>
              <a:t>All 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051560"/>
            <a:ext cx="2148840" cy="118872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7351775" y="1106424"/>
            <a:ext cx="2002536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3600" b="1" dirty="0">
                <a:solidFill>
                  <a:srgbClr val="C39E6A"/>
                </a:solidFill>
              </a:rPr>
              <a:t>5,410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1618488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Feedback 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1929384"/>
            <a:ext cx="2002536" cy="2277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dirty="0">
                <a:solidFill>
                  <a:srgbClr val="D9C49A"/>
                </a:solidFill>
              </a:rPr>
              <a:t>Open-ended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9488" y="1051560"/>
            <a:ext cx="2148840" cy="118872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692640" y="1106424"/>
            <a:ext cx="2002536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800" b="1" dirty="0">
                <a:solidFill>
                  <a:srgbClr val="C39E6A"/>
                </a:solidFill>
              </a:rPr>
              <a:t>+</a:t>
            </a:r>
            <a:r>
              <a:rPr sz="3600" b="1" dirty="0">
                <a:solidFill>
                  <a:srgbClr val="C39E6A"/>
                </a:solidFill>
              </a:rPr>
              <a:t>114</a:t>
            </a:r>
            <a:r>
              <a:rPr sz="2800" b="1" dirty="0">
                <a:solidFill>
                  <a:srgbClr val="C39E6A"/>
                </a:solidFill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618488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</a:rPr>
              <a:t>Spend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929384"/>
            <a:ext cx="2002536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 dirty="0">
                <a:solidFill>
                  <a:srgbClr val="D9C49A"/>
                </a:solidFill>
              </a:rPr>
              <a:t>$206 (2021) → $441 (2025)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06902"/>
              </p:ext>
            </p:extLst>
          </p:nvPr>
        </p:nvGraphicFramePr>
        <p:xfrm>
          <a:off x="3360420" y="2377440"/>
          <a:ext cx="530351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SURVEYS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AVG SPEND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TOTAL SPEND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YoY GROWTH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1,735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$206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$317K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  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3,168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$328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$683K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+59%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1,942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$420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$606K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+28%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39E6A"/>
                          </a:solidFill>
                        </a:rPr>
                        <a:t>$397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$249K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6666"/>
                          </a:solidFill>
                        </a:rPr>
                        <a:t>-5%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1,189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$441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$320K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C39E6A"/>
                          </a:solidFill>
                        </a:rPr>
                        <a:t>+11%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800" b="1">
                <a:solidFill>
                  <a:srgbClr val="C39E6A"/>
                </a:solidFill>
              </a:rPr>
              <a:t>ANNUAL TRENDS: VOLUME DOWN, VALUE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50" b="0">
                <a:solidFill>
                  <a:srgbClr val="D9C49A"/>
                </a:solidFill>
              </a:rPr>
              <a:t>Survey volume peaked in 2022 — but average spend per fan has grown every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51560"/>
            <a:ext cx="658368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59168" y="1078992"/>
            <a:ext cx="4873752" cy="84124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150608" y="1124712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2021  COVID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1426464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$206 avg  |  Partial capacity (50–75%), fans cautious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2048256"/>
            <a:ext cx="4873752" cy="84124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7150608" y="2093976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2022  CHAMPIONSHIP 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395728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$328 avg  |  MLS Cup win + Blackpink. Record 3,168 surveys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8" y="3017520"/>
            <a:ext cx="4873752" cy="84124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7150608" y="3063239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2023 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364991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$420 avg  |  Post-title dip. F&amp;B upgrades drive +28% spend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3986784"/>
            <a:ext cx="4873752" cy="84124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7150608" y="4032504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2024  HIGH-VALUE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4334256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$397 avg  |  Volume fell to 869, median spend still rising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9168" y="4956048"/>
            <a:ext cx="4873752" cy="84124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7150608" y="5001768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2025  RECOVERY BEGINS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5303520"/>
            <a:ext cx="4690872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$441 avg  |  Volume up +37%, all-time high avg spend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UNDERSTANDING 2022: WHY IT WON'T JUST COME BACK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The championship year brought a flood of fans — analyzing who they were reveals the re-activation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11676888" cy="804672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11494008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endParaRPr lang="en-US" sz="1400" b="1" dirty="0">
              <a:solidFill>
                <a:srgbClr val="C39E6A"/>
              </a:solidFill>
            </a:endParaRPr>
          </a:p>
          <a:p>
            <a:pPr algn="ctr"/>
            <a:r>
              <a:rPr sz="1400" b="1" dirty="0">
                <a:solidFill>
                  <a:srgbClr val="C39E6A"/>
                </a:solidFill>
              </a:rPr>
              <a:t>3,168 surveys in 2022  →  869 surveys in 2024.  ~2,300 fans came for the championship cycle and have not returned.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93392"/>
            <a:ext cx="3794760" cy="4572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3794760" cy="36576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47472" y="2029968"/>
            <a:ext cx="3611880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</a:rPr>
              <a:t>WHAT CAUSED THE SURGE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3575304" cy="236680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  •  First MLS Cup Championship in club history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Full venue capacity restored post-COVID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Blackpink stadium concert (non-MLS audience)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Pent-up demand from 2020–21 restrictions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National media spotlight on the club</a:t>
            </a:r>
          </a:p>
          <a:p>
            <a:pPr algn="l"/>
            <a:endParaRPr sz="1000" b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42816" y="1993392"/>
            <a:ext cx="3794760" cy="4572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4242816" y="1993392"/>
            <a:ext cx="3794760" cy="36576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334256" y="2029968"/>
            <a:ext cx="3611880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</a:rPr>
              <a:t>WHO THOSE FANS WERE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423160"/>
            <a:ext cx="3575304" cy="215135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</a:rPr>
              <a:t>  •</a:t>
            </a:r>
            <a:r>
              <a:rPr sz="1400" b="0" dirty="0">
                <a:solidFill>
                  <a:srgbClr val="FFFFFF"/>
                </a:solidFill>
              </a:rPr>
              <a:t>  High proportion of first-time visitors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Event-driven, not season-ticket motivated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Lower repeat-visit intent vs. core fans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General Admission skew in seating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Avg spend $328 — below 2023–25 levels</a:t>
            </a:r>
          </a:p>
          <a:p>
            <a:pPr algn="l"/>
            <a:endParaRPr sz="1000" b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1993392"/>
            <a:ext cx="3794760" cy="4572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8229600" y="1993392"/>
            <a:ext cx="3794760" cy="36576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321040" y="2029968"/>
            <a:ext cx="3611880" cy="23544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</a:rPr>
              <a:t>WHAT THIS MEANS FOR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423160"/>
            <a:ext cx="3575304" cy="258224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</a:rPr>
              <a:t>  </a:t>
            </a:r>
            <a:r>
              <a:rPr sz="1400" b="0" dirty="0">
                <a:solidFill>
                  <a:srgbClr val="FFFFFF"/>
                </a:solidFill>
              </a:rPr>
              <a:t>•  2022 peak was driven by unrepeatable events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Organic recovery needs a new catalyst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Re-activation is faster than new acquisition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Marketing must target dormant 2022 fans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Championship run = the most powerful lever</a:t>
            </a:r>
          </a:p>
          <a:p>
            <a:pPr algn="l"/>
            <a:endParaRPr sz="1000" b="0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56032" y="6455664"/>
            <a:ext cx="11676888" cy="329184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347472" y="6483096"/>
            <a:ext cx="11494008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0" dirty="0">
                <a:solidFill>
                  <a:srgbClr val="D9C49A"/>
                </a:solidFill>
              </a:rPr>
              <a:t>KEY SIGNAL: The fans LAFC lost between 2022–2024 are </a:t>
            </a:r>
            <a:r>
              <a:rPr sz="1200" b="1" dirty="0">
                <a:solidFill>
                  <a:srgbClr val="D9C49A"/>
                </a:solidFill>
              </a:rPr>
              <a:t>dormant</a:t>
            </a:r>
            <a:r>
              <a:rPr sz="1200" b="0" dirty="0">
                <a:solidFill>
                  <a:srgbClr val="D9C49A"/>
                </a:solidFill>
              </a:rPr>
              <a:t>, not gone. Re-activation — not new acquisition — is the fastest path back to 3,000+ surveys per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SEATING REVENUE: PREMIUM FANS DRIVE DISPROPORTIONATE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21.8% of fans in VIP/Floor tiers generate 43% of all revenue captured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" y="1078992"/>
          <a:ext cx="530351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SEATING TIER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FANS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AVG SPEND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% FANS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VIP Floor/Pit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$573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$37K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9C49A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Floor / Pit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1,948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$485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$945K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Premium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$462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$372K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General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3,871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$240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$888K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41.9%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Supporters Sec.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$103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$15K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AAAAAA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78992"/>
            <a:ext cx="617220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4498848"/>
            <a:ext cx="11676888" cy="65836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347472" y="4544568"/>
            <a:ext cx="2286000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THE SPEND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4544568"/>
            <a:ext cx="902512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VIP fans spend $573 vs. General fans $240 — a 2.4x multiplier from a seat assignment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5266944"/>
            <a:ext cx="11676888" cy="65836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347472" y="5312664"/>
            <a:ext cx="2286000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THE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312664"/>
            <a:ext cx="902512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VIP + Floor = 21.8% of fans but 43% of revenue. Premium tiers punch far above their weight.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6035040"/>
            <a:ext cx="11676888" cy="658368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347472" y="6080759"/>
            <a:ext cx="2286000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C39E6A"/>
                </a:solidFill>
              </a:rP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6080759"/>
            <a:ext cx="902512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Converting just 5% of General fans to Premium adds ~$110K annually — without one new fan.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200" b="1">
                <a:solidFill>
                  <a:srgbClr val="C39E6A"/>
                </a:solidFill>
              </a:rPr>
              <a:t>FAN FEEDBACK: THREE FRICTION POINTS COSTING LAFC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5,410 open-ended responses — 72% describe a problem, not a compliment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11676888" cy="45720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47472" y="1097280"/>
            <a:ext cx="11494008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C39E6A"/>
                </a:solidFill>
              </a:rPr>
              <a:t>5,410 fans left written feedback  |  Top 3 pain points account for 43.2% of ALL responses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27632"/>
            <a:ext cx="5669280" cy="51023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08192" y="1627632"/>
            <a:ext cx="5824728" cy="1572768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6108192" y="1627632"/>
            <a:ext cx="5824728" cy="384048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199631" y="1673352"/>
            <a:ext cx="5641848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#1  FOOD &amp; BEVERAGE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048256"/>
            <a:ext cx="564184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0">
                <a:solidFill>
                  <a:srgbClr val="D9C49A"/>
                </a:solidFill>
              </a:rPr>
              <a:t>871 mentions  |  16.1%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605272" cy="7017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  •  Prices 'too high' — fans skip F&amp;B entirely</a:t>
            </a: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Long lines cause purchasing abandonment</a:t>
            </a:r>
          </a:p>
          <a:p>
            <a:pPr algn="l"/>
            <a:r>
              <a:rPr sz="1400" b="1" dirty="0">
                <a:solidFill>
                  <a:srgbClr val="C39E6A"/>
                </a:solidFill>
              </a:rPr>
              <a:t>•  Revenue impact: $60–80 less per skipped visit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3328416"/>
            <a:ext cx="5824728" cy="1572768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Rectangle 14"/>
          <p:cNvSpPr/>
          <p:nvPr/>
        </p:nvSpPr>
        <p:spPr>
          <a:xfrm>
            <a:off x="6108192" y="3328416"/>
            <a:ext cx="5824728" cy="384048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199631" y="3374136"/>
            <a:ext cx="5641848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#2  PARKING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3749040"/>
            <a:ext cx="564184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0">
                <a:solidFill>
                  <a:srgbClr val="D9C49A"/>
                </a:solidFill>
              </a:rPr>
              <a:t>749 mentions  |  13.8%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86784"/>
            <a:ext cx="5605272" cy="7017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  •  $50–60 fees cited as attendance deterrent</a:t>
            </a: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90-minute exit times reported repeatedly</a:t>
            </a:r>
          </a:p>
          <a:p>
            <a:pPr algn="l"/>
            <a:r>
              <a:rPr sz="1400" b="1" dirty="0">
                <a:solidFill>
                  <a:srgbClr val="C39E6A"/>
                </a:solidFill>
              </a:rPr>
              <a:t>•  Revenue impact: reduces repeat visit 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5029200"/>
            <a:ext cx="5824728" cy="1572768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Rectangle 19"/>
          <p:cNvSpPr/>
          <p:nvPr/>
        </p:nvSpPr>
        <p:spPr>
          <a:xfrm>
            <a:off x="6108192" y="5029200"/>
            <a:ext cx="5824728" cy="384048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199631" y="5074920"/>
            <a:ext cx="5641848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#3  ENTRY &amp;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5449824"/>
            <a:ext cx="564184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0">
                <a:solidFill>
                  <a:srgbClr val="D9C49A"/>
                </a:solidFill>
              </a:rPr>
              <a:t>1,214 mentions  |  22.4%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687568"/>
            <a:ext cx="5605272" cy="7017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  •  Entry described as 'stressful' and 'chaotic'</a:t>
            </a: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Late arrivals miss 20–30 min of peak spend</a:t>
            </a:r>
          </a:p>
          <a:p>
            <a:pPr algn="l"/>
            <a:r>
              <a:rPr sz="1400" b="1" dirty="0">
                <a:solidFill>
                  <a:srgbClr val="C39E6A"/>
                </a:solidFill>
              </a:rPr>
              <a:t>•  Revenue impact: fans arrive late, spend 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100" b="1">
                <a:solidFill>
                  <a:srgbClr val="C39E6A"/>
                </a:solidFill>
              </a:rPr>
              <a:t>MEMBERSHIP PARADOX: NON-MEMBERS OUTSPEND MEMBERS BY 92%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The most loyal fans are spending the least per visit — and the data tells us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51560"/>
            <a:ext cx="5577840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1051560"/>
            <a:ext cx="1920240" cy="352044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108192" y="111556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C39E6A"/>
                </a:solidFill>
              </a:rPr>
              <a:t>LAFC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192" y="142646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>
                <a:solidFill>
                  <a:srgbClr val="AAAAAA"/>
                </a:solidFill>
              </a:rPr>
              <a:t>1,677 fans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664208"/>
            <a:ext cx="1773936" cy="6894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4000" b="1">
                <a:solidFill>
                  <a:srgbClr val="C39E6A"/>
                </a:solidFill>
              </a:rPr>
              <a:t>$279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15798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>
                <a:solidFill>
                  <a:srgbClr val="AAAAAA"/>
                </a:solidFill>
              </a:rPr>
              <a:t>avg/visit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39572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$322K captured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051560"/>
            <a:ext cx="1920240" cy="352044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8138160" y="111556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NON-MEMBERS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42646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>
                <a:solidFill>
                  <a:srgbClr val="AAAAAA"/>
                </a:solidFill>
              </a:rPr>
              <a:t>565 fans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64208"/>
            <a:ext cx="1773936" cy="6894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4000" b="1">
                <a:solidFill>
                  <a:srgbClr val="C39E6A"/>
                </a:solidFill>
              </a:rPr>
              <a:t>$535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5798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>
                <a:solidFill>
                  <a:srgbClr val="AAAAAA"/>
                </a:solidFill>
              </a:rPr>
              <a:t>avg/visit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9572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$14K captured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94976" y="1051560"/>
            <a:ext cx="1920240" cy="352044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10168128" y="111556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D9C49A"/>
                </a:solidFill>
              </a:rPr>
              <a:t>EVENT GUESTS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142646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 dirty="0">
                <a:solidFill>
                  <a:srgbClr val="AAAAAA"/>
                </a:solidFill>
              </a:rPr>
              <a:t>7,004 fans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1664208"/>
            <a:ext cx="1773936" cy="6894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4000" b="1">
                <a:solidFill>
                  <a:srgbClr val="C39E6A"/>
                </a:solidFill>
              </a:rPr>
              <a:t>$350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2157984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0">
                <a:solidFill>
                  <a:srgbClr val="AAAAAA"/>
                </a:solidFill>
              </a:rPr>
              <a:t>avg/visit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2395728"/>
            <a:ext cx="1773936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$1.93M captured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681728"/>
            <a:ext cx="11676888" cy="548640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347472" y="4754880"/>
            <a:ext cx="11494008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C39E6A"/>
                </a:solidFill>
              </a:rPr>
              <a:t>A non-member spends $256 MORE per visit.  500 members upgrading to non-member spend levels = +$128,000 annually.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358384"/>
            <a:ext cx="3794760" cy="1408176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347472" y="54132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HYPOTHESIS 1 — PERKS REDUCE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715000"/>
            <a:ext cx="3611880" cy="72019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Members receive bundled F&amp;B or discounts. Out-of-pocket spend is lower because value is pre-captured in membership fee.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5358384"/>
            <a:ext cx="3794760" cy="1408176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4334256" y="54132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HYPOTHESIS 2 — HABIT VS. OCCASION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5715000"/>
            <a:ext cx="3611880" cy="72019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Regular attendees budget conservatively. Non-members treat each visit as a special occasion and spend freely.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358384"/>
            <a:ext cx="3794760" cy="1408176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8321040" y="54132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HYPOTHESIS 3 — NO SPEND INCENTIVE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715000"/>
            <a:ext cx="3611880" cy="62786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Membership rewards attendance, not spend. No tiered benefit for purchasing more — members have no reason to upgrade.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 dirty="0">
                <a:solidFill>
                  <a:srgbClr val="C39E6A"/>
                </a:solidFill>
              </a:rPr>
              <a:t>FAN SEGMENTS: WHO IS HERE, WHAT THEY SPEND, WHAT WE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Revenue growth does not require more fans — it requires better conversion of fans already at BMO Stadium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" y="1078992"/>
          <a:ext cx="55778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2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SPEND RANGE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FANS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% TOTAL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CUMUL.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Under $100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1,118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9C49A"/>
                          </a:solidFill>
                        </a:rPr>
                        <a:t>Casual Visitor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$100–$250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2,464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36.8%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53.5%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Core Fan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$251–$500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1,874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39E6A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81.5%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39E6A"/>
                          </a:solidFill>
                        </a:rPr>
                        <a:t>Engaged Fan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$501–$1,000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938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9C49A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95.6%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9C49A"/>
                          </a:solidFill>
                        </a:rPr>
                        <a:t>High-Value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Over $1,000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293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39E6A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C39E6A"/>
                          </a:solidFill>
                        </a:rPr>
                        <a:t>Premium Fan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78992"/>
            <a:ext cx="59436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4407408"/>
            <a:ext cx="11676888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347472" y="4453128"/>
            <a:ext cx="1149400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THE UPGRADE OPPORTUNITY: Modest per-visit spend increases from existing fans = $310,000+ in annual incremental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4846320"/>
            <a:ext cx="280720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347472" y="4919472"/>
            <a:ext cx="2624328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Move 2,464 Core Fans up $50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5541264"/>
            <a:ext cx="2624328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C39E6A"/>
                </a:solidFill>
              </a:rPr>
              <a:t>+$123,200/yr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846320"/>
            <a:ext cx="280720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291840" y="4919472"/>
            <a:ext cx="2624328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Move 1,874 Engaged Fans up $75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541264"/>
            <a:ext cx="2624328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C39E6A"/>
                </a:solidFill>
              </a:rPr>
              <a:t>+$140,550/yr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4846320"/>
            <a:ext cx="280720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236208" y="4919472"/>
            <a:ext cx="2624328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Retain 50% of High-Value Fans at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5541264"/>
            <a:ext cx="2624328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C39E6A"/>
                </a:solidFill>
              </a:rPr>
              <a:t>+$46,900/yr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4846320"/>
            <a:ext cx="2807208" cy="19202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9180576" y="4919472"/>
            <a:ext cx="2624328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COMBINED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5541264"/>
            <a:ext cx="2624328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+$310,650/yr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800" b="1">
                <a:solidFill>
                  <a:srgbClr val="C39E6A"/>
                </a:solidFill>
              </a:rPr>
              <a:t>2026–2030 STRATEGIC FRAMEWORK: THREE PILLARS, ONE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Every pillar is grounded in data from the fan survey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3794760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3794760" cy="3200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47472" y="10698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PILLAR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89888"/>
            <a:ext cx="361188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000" b="1">
                <a:solidFill>
                  <a:srgbClr val="C39E6A"/>
                </a:solidFill>
              </a:rPr>
              <a:t>FIX THE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64792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 dirty="0">
                <a:solidFill>
                  <a:srgbClr val="D9C49A"/>
                </a:solidFill>
              </a:rPr>
              <a:t>Eliminate friction. Fans already told us what to fix.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57984"/>
            <a:ext cx="3611880" cy="192052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• F&amp;B: mobile ordering, express lanes, bundle pricing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Parking: pre-bundled packages, exit strategy overhaul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Entry: member fast-track lanes, digital ticket expansion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Target: top 3 complaint categories &lt; 8% by end 2026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032" y="6236208"/>
            <a:ext cx="3794760" cy="347472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347472" y="6272784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 dirty="0">
                <a:solidFill>
                  <a:srgbClr val="000000"/>
                </a:solidFill>
              </a:rPr>
              <a:t>FASTEST ROI  |  ENABLES ALL OTHER PILLARS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051560"/>
            <a:ext cx="3794760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ectangle 14"/>
          <p:cNvSpPr/>
          <p:nvPr/>
        </p:nvSpPr>
        <p:spPr>
          <a:xfrm>
            <a:off x="4242816" y="1051560"/>
            <a:ext cx="3794760" cy="3200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334256" y="10698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PILLAR 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389888"/>
            <a:ext cx="361188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000" b="1">
                <a:solidFill>
                  <a:srgbClr val="C39E6A"/>
                </a:solidFill>
              </a:rPr>
              <a:t>GROW PREMIUM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1764792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 dirty="0">
                <a:solidFill>
                  <a:srgbClr val="D9C49A"/>
                </a:solidFill>
              </a:rPr>
              <a:t>Shift the seating and spend mix toward higher-value fans.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157984"/>
            <a:ext cx="3611880" cy="192052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• Premium Day Pass: upgrade any ticket for select matches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In-seat F&amp;B service for Floor/Pit tier (launch 2027)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Dynamic pricing and seating inventory restructure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Target: Floor/Pit fans grow from 21.8% to 28% by 2030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42816" y="6236208"/>
            <a:ext cx="3794760" cy="347472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4334256" y="6272784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</a:rPr>
              <a:t>HIGH VALUE  |  MULTI-YEAR 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51560"/>
            <a:ext cx="3794760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ectangle 22"/>
          <p:cNvSpPr/>
          <p:nvPr/>
        </p:nvSpPr>
        <p:spPr>
          <a:xfrm>
            <a:off x="8229600" y="1051560"/>
            <a:ext cx="3794760" cy="3200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321040" y="1069848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</a:rPr>
              <a:t>PILLAR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389888"/>
            <a:ext cx="361188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000" b="1" dirty="0">
                <a:solidFill>
                  <a:srgbClr val="C39E6A"/>
                </a:solidFill>
              </a:rPr>
              <a:t>REACTIVATE &amp; RETAIN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64792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 dirty="0">
                <a:solidFill>
                  <a:srgbClr val="D9C49A"/>
                </a:solidFill>
              </a:rPr>
              <a:t>Bring back the 2022 fans. Keep the 2025 fans returning.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57984"/>
            <a:ext cx="3611880" cy="17358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Win-back campaign for 2,300+ dormant 2022 fans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Membership redesign: Silver → Gold → Platinum tiers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CRM integration: Ticketmaster + Salesforce + POS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Target: 600 lapsed fan re-activations in 2026 season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0" y="6236208"/>
            <a:ext cx="3794760" cy="347472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321040" y="6272784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</a:rPr>
              <a:t>HIGH LOYALTY  |  COMPOUNDING RETURNS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6620256"/>
            <a:ext cx="11676888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347472" y="6638544"/>
            <a:ext cx="11494008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D9C49A"/>
                </a:solidFill>
              </a:rPr>
              <a:t>FOUNDATION: Data infrastructure  ·  Fan behavior tracking  ·  Real-time feedback loops  ·  CRM + Ticketmaster + POS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000" b="1" dirty="0">
                <a:solidFill>
                  <a:srgbClr val="C39E6A"/>
                </a:solidFill>
              </a:rPr>
              <a:t>PILLAR 1 — FIX THE EXPERIENCE: ELIMINATE FRICTION, EVERY COMPLAINT IS A LOST DOLLAR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D9C49A"/>
                </a:solidFill>
              </a:rPr>
              <a:t>Operational fixes that directly address what 43.2% of all fan feedback is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3794760" cy="5029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611880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FOOD &amp; BEVERAGE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</a:rPr>
              <a:t>871 mentions  |  16.1%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591056"/>
            <a:ext cx="3611880" cy="17358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Mobile ordering via the LAFC app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Express F&amp;B lanes on each concourse level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Review pricing on top 5 complaint items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$15–20 combo bundles (food + drink)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Local LA brand partnership for differentiation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4535424"/>
            <a:ext cx="3794760" cy="1545336"/>
          </a:xfrm>
          <a:prstGeom prst="rect">
            <a:avLst/>
          </a:prstGeom>
          <a:solidFill>
            <a:srgbClr val="000000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365760" y="458114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D9C49A"/>
                </a:solidFill>
              </a:rPr>
              <a:t>Investment: Medium  |  Timeline: 2026 season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KPI: F&amp;B complaints &lt; 8% (from 16.1%)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0515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ectangle 14"/>
          <p:cNvSpPr/>
          <p:nvPr/>
        </p:nvSpPr>
        <p:spPr>
          <a:xfrm>
            <a:off x="4242816" y="1051560"/>
            <a:ext cx="3794760" cy="5029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334256" y="1078992"/>
            <a:ext cx="3611880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PARKING &amp; 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34416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</a:rPr>
              <a:t>749 mentions  |  13.8%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1591056"/>
            <a:ext cx="3611880" cy="17358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Pre-paid parking bundles in season packages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Dedicated rideshare drop-off lane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Staggered exit: early leavers get transit credit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Metro partnership for game-day fares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Post-match routing signage on all exits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4535424"/>
            <a:ext cx="3794760" cy="1545336"/>
          </a:xfrm>
          <a:prstGeom prst="rect">
            <a:avLst/>
          </a:prstGeom>
          <a:solidFill>
            <a:srgbClr val="000000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4352544" y="458114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D9C49A"/>
                </a:solidFill>
              </a:rPr>
              <a:t>Investment: Low–Medium  |  Timeline: Q1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490118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KPI: Parking mentions &lt; 7% (from 13.8%)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515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ectangle 22"/>
          <p:cNvSpPr/>
          <p:nvPr/>
        </p:nvSpPr>
        <p:spPr>
          <a:xfrm>
            <a:off x="8229600" y="1051560"/>
            <a:ext cx="3794760" cy="5029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321040" y="1078992"/>
            <a:ext cx="3611880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b="1">
                <a:solidFill>
                  <a:srgbClr val="000000"/>
                </a:solidFill>
              </a:rPr>
              <a:t>ENTRY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34416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</a:rPr>
              <a:t>1,214 mentions  |  22.4%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591056"/>
            <a:ext cx="3611880" cy="17358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Digital ticket lane expansion at all gates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Member-only fast-track entry gates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Pre-match entertainment activation in queues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Staffing increase at T-45 min window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 Staff communication and queue signage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535424"/>
            <a:ext cx="3794760" cy="1545336"/>
          </a:xfrm>
          <a:prstGeom prst="rect">
            <a:avLst/>
          </a:prstGeom>
          <a:solidFill>
            <a:srgbClr val="000000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8339327" y="458114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D9C49A"/>
                </a:solidFill>
              </a:rPr>
              <a:t>Investment: Low  |  Timeline: 2026 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901184"/>
            <a:ext cx="35753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C39E6A"/>
                </a:solidFill>
              </a:rPr>
              <a:t>KPI: Avg entry wait time &lt; 8 minutes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6144768"/>
            <a:ext cx="11676888" cy="621792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347472" y="6199632"/>
            <a:ext cx="11494008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0" dirty="0">
                <a:solidFill>
                  <a:srgbClr val="D9C49A"/>
                </a:solidFill>
              </a:rPr>
              <a:t>Pillar 1 is the fastest and cheapest to execute. These operational fixes directly enable Pillars 2 and 3 — no premium program works when the baseline experience is broken.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000" b="1" dirty="0">
                <a:solidFill>
                  <a:srgbClr val="C39E6A"/>
                </a:solidFill>
              </a:rPr>
              <a:t>PILLAR 2 — GROW PREMIUM REVENUE: SHIFT THE MIX, MOVE FANS UP THE VALUE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>
                <a:solidFill>
                  <a:srgbClr val="D9C49A"/>
                </a:solidFill>
              </a:rPr>
              <a:t>Floor/Pit fans spend 2.4x more than General — there is room to significantly grow this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5303520" cy="521208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5303520" cy="36576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512064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463040"/>
            <a:ext cx="51572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39E6A"/>
                </a:solidFill>
              </a:rPr>
              <a:t>  •  Floor/Pit fans (21.8%) generate 43% of revenue</a:t>
            </a:r>
          </a:p>
          <a:p>
            <a:pPr algn="l"/>
            <a:endParaRPr sz="1400" b="1" dirty="0">
              <a:solidFill>
                <a:srgbClr val="C39E6A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VIP inventory: only 65 fans in the full dataset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1" dirty="0">
                <a:solidFill>
                  <a:srgbClr val="C39E6A"/>
                </a:solidFill>
              </a:rPr>
              <a:t>  •  Floor fans avg $485  vs.  General fans avg $240</a:t>
            </a:r>
          </a:p>
          <a:p>
            <a:pPr algn="l"/>
            <a:endParaRPr sz="1400" b="1" dirty="0">
              <a:solidFill>
                <a:srgbClr val="C39E6A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  •  $245 gap in per-visit spend — from a seat alone</a:t>
            </a:r>
          </a:p>
          <a:p>
            <a:pPr algn="l"/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D9C49A"/>
                </a:solidFill>
              </a:rPr>
              <a:t>  •  No structured upsell or upgrade pathway in data</a:t>
            </a:r>
          </a:p>
          <a:p>
            <a:pPr algn="l"/>
            <a:endParaRPr sz="1400" b="0" dirty="0">
              <a:solidFill>
                <a:srgbClr val="D9C49A"/>
              </a:solidFill>
            </a:endParaRPr>
          </a:p>
          <a:p>
            <a:pPr algn="l"/>
            <a:r>
              <a:rPr sz="1400" b="0" dirty="0">
                <a:solidFill>
                  <a:srgbClr val="D9C49A"/>
                </a:solidFill>
              </a:rPr>
              <a:t>  •  Dynamic pricing: not yet reflected in dataset</a:t>
            </a:r>
          </a:p>
          <a:p>
            <a:pPr algn="l"/>
            <a:endParaRPr sz="1400" b="0" dirty="0">
              <a:solidFill>
                <a:srgbClr val="D9C49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33872" y="1078992"/>
            <a:ext cx="6099048" cy="1115568"/>
          </a:xfrm>
          <a:prstGeom prst="rect">
            <a:avLst/>
          </a:prstGeom>
          <a:solidFill>
            <a:srgbClr val="1E1E1E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Rectangle 10"/>
          <p:cNvSpPr/>
          <p:nvPr/>
        </p:nvSpPr>
        <p:spPr>
          <a:xfrm>
            <a:off x="5833872" y="1078992"/>
            <a:ext cx="6099048" cy="320040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5907024" y="1115568"/>
            <a:ext cx="5952744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2026  — 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1426464"/>
            <a:ext cx="5952744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Introduce Premium Day Pass — upgrade any ticket to Floor/Pit for select matches. Capture demand data and set price floors.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3872" y="2322576"/>
            <a:ext cx="6099048" cy="1115568"/>
          </a:xfrm>
          <a:prstGeom prst="rect">
            <a:avLst/>
          </a:prstGeom>
          <a:solidFill>
            <a:srgbClr val="1E1E1E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Rectangle 14"/>
          <p:cNvSpPr/>
          <p:nvPr/>
        </p:nvSpPr>
        <p:spPr>
          <a:xfrm>
            <a:off x="5833872" y="2322576"/>
            <a:ext cx="6099048" cy="320040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5907024" y="2359152"/>
            <a:ext cx="5952744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2027  —  IN-SEAT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2670048"/>
            <a:ext cx="5952744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Launch curated F&amp;B Premium Package: pre-match dining + in-seat service for Floor and Premium tiers. Target: +$75/fan/visit.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3872" y="3566160"/>
            <a:ext cx="6099048" cy="1115568"/>
          </a:xfrm>
          <a:prstGeom prst="rect">
            <a:avLst/>
          </a:prstGeom>
          <a:solidFill>
            <a:srgbClr val="1E1E1E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Rectangle 18"/>
          <p:cNvSpPr/>
          <p:nvPr/>
        </p:nvSpPr>
        <p:spPr>
          <a:xfrm>
            <a:off x="5833872" y="3566160"/>
            <a:ext cx="6099048" cy="320040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5907024" y="3602736"/>
            <a:ext cx="5952744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2028  —  INVENTORY RESTRUCTURE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3913632"/>
            <a:ext cx="5952744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Restructure seating based on 2026–27 demand data. Expand Floor/Pit allocation. Begin dynamic pricing on premium inventory.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4809744"/>
            <a:ext cx="6099048" cy="1115568"/>
          </a:xfrm>
          <a:prstGeom prst="rect">
            <a:avLst/>
          </a:prstGeom>
          <a:solidFill>
            <a:srgbClr val="1E1E1E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ectangle 22"/>
          <p:cNvSpPr/>
          <p:nvPr/>
        </p:nvSpPr>
        <p:spPr>
          <a:xfrm>
            <a:off x="5833872" y="4809744"/>
            <a:ext cx="6099048" cy="320040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5907024" y="4846320"/>
            <a:ext cx="5952744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2029–30  —  PLATINUM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5157216"/>
            <a:ext cx="5952744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Platinum Membership: premium seating + curated experience + spend-based status. Price point: $5,000–$10,000 annually.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6071616"/>
            <a:ext cx="11676888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347472" y="6126480"/>
            <a:ext cx="11494008" cy="2893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C39E6A"/>
                </a:solidFill>
              </a:rPr>
              <a:t>2030 TARGETS:  Floor/Pit fans grow from 21.8% → 28%  |  Avg premium fan spend: $650+  |  Premium Day Pass available for all home matches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000" b="1" dirty="0">
                <a:solidFill>
                  <a:srgbClr val="C39E6A"/>
                </a:solidFill>
              </a:rPr>
              <a:t>PILLAR 3 — REACTIVATE &amp; RETAIN: THE 2022 FANS ARE DORMANT, NOT GONE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D9C49A"/>
                </a:solidFill>
              </a:rPr>
              <a:t>Lapsed fans are the cheapest fans to win back — and the data tells us exactly who they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11676888" cy="566928"/>
          </a:xfrm>
          <a:prstGeom prst="rect">
            <a:avLst/>
          </a:prstGeom>
          <a:solidFill>
            <a:srgbClr val="000000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11494008" cy="56630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C39E6A"/>
                </a:solidFill>
              </a:rPr>
              <a:t>2022 → 2024: Survey volume fell from 3,168 to 869.  ~2,300 fans attended during the championship cycle and have not been tracked since.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256032" y="1737360"/>
            <a:ext cx="3794760" cy="43891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47472" y="1773936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TRACK A — WIN-BACK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21284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D9C49A"/>
                </a:solidFill>
              </a:rPr>
              <a:t>Target: Fans who attended 2022, no activity in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05456"/>
            <a:ext cx="3575304" cy="2105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• Channel: Email + app push + targeted social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Offer: Early 2026 season access + personalized match reel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Incentive: $15 F&amp;B credit on return visit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Goal: Re-activate 600 lapsed fans in 2026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• Measurement: Survey volume vs. 2024 baseline</a:t>
            </a: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816" y="17373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Rectangle 13"/>
          <p:cNvSpPr/>
          <p:nvPr/>
        </p:nvSpPr>
        <p:spPr>
          <a:xfrm>
            <a:off x="4242816" y="1737360"/>
            <a:ext cx="3794760" cy="43891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4334256" y="1773936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TRACK B — MEMBERSHIP REDESIGN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1284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D9C49A"/>
                </a:solidFill>
              </a:rPr>
              <a:t>Problem: Members spend $279 vs. non-members at $535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505456"/>
            <a:ext cx="3575304" cy="228985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SILVER (current): Access + ticket discounts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GOLD: Silver + $20 F&amp;B credit + upgrade windows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PLATINUM: Gold + premium seating + exclusive events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Reward: Points on F&amp;B, merchandise, upgrades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Goal: 30% of members upgrade by Gold/Platinum by 2027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794760" cy="50292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794760" cy="43891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8321040" y="1773936"/>
            <a:ext cx="36118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TRACK C — CRM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12848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D9C49A"/>
                </a:solidFill>
              </a:rPr>
              <a:t>Enable: Know your fans beyond the survey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505456"/>
            <a:ext cx="3575304" cy="192052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Integrate Ticketmaster with F&amp;B POS spend data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Build individual fan spend profiles in Salesforce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Trigger personalized offers based on behavior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ACFC cross-sell (shared fan database)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  • Goal: 60% of fans with linked CRM profiles by 2027</a:t>
            </a:r>
          </a:p>
          <a:p>
            <a:pPr algn="l"/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REVENUE FORECAST 2026–2030: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>
                <a:solidFill>
                  <a:srgbClr val="D9C49A"/>
                </a:solidFill>
              </a:rPr>
              <a:t>What strategic investment can unlock — modeled from 2025 baseline of $441 avg spend per fan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" y="1078992"/>
          <a:ext cx="530351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BASE +5%/yr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ENHANCED +10%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OPTIMIZED +15%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C39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2025 (Actual)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$441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$441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$441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AAAAA"/>
                          </a:solidFill>
                        </a:rPr>
                        <a:t>  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$463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39E6A"/>
                          </a:solidFill>
                        </a:rPr>
                        <a:t>$485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$507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C49A"/>
                          </a:solidFill>
                        </a:rPr>
                        <a:t>+$44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$486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39E6A"/>
                          </a:solidFill>
                        </a:rPr>
                        <a:t>$534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$584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9C49A"/>
                          </a:solidFill>
                        </a:rPr>
                        <a:t>+$98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$511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39E6A"/>
                          </a:solidFill>
                        </a:rPr>
                        <a:t>$587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$672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+$161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$536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39E6A"/>
                          </a:solidFill>
                        </a:rPr>
                        <a:t>$646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$773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+$237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$563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$710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$889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39E6A"/>
                          </a:solidFill>
                        </a:rPr>
                        <a:t>+$326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78992"/>
            <a:ext cx="61722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4983480"/>
            <a:ext cx="3794760" cy="1316736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47472" y="5029200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1">
                <a:solidFill>
                  <a:srgbClr val="C39E6A"/>
                </a:solidFill>
              </a:rPr>
              <a:t>BASE  +5%/yr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5321808"/>
            <a:ext cx="3611880" cy="41242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Current trend. No major investment. Inflation-adjusted organic growth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4983480"/>
            <a:ext cx="3794760" cy="1316736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334256" y="5029200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1">
                <a:solidFill>
                  <a:srgbClr val="C39E6A"/>
                </a:solidFill>
              </a:rPr>
              <a:t>ENHANCED  +10%/yr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5321808"/>
            <a:ext cx="3611880" cy="41242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Fix F&amp;B, parking, entry. Launch mobile ordering. Reduce top-3 complaint rate by 50%.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983480"/>
            <a:ext cx="3794760" cy="1316736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21040" y="5029200"/>
            <a:ext cx="3611880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1">
                <a:solidFill>
                  <a:srgbClr val="C39E6A"/>
                </a:solidFill>
              </a:rPr>
              <a:t>OPTIMIZED  +15%/yr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21808"/>
            <a:ext cx="3611880" cy="41242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All Enhanced + premium tier expansion + membership redesign + CRM integration.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6419088"/>
            <a:ext cx="1167688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347472" y="6464808"/>
            <a:ext cx="11494008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C39E6A"/>
                </a:solidFill>
              </a:rPr>
              <a:t>Base → Optimized gap by 2030: +$326/fan  |  18,000 fans × 17 matches × $326 = +$99.7M cumulative over 5 years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YEAR-BY-YEAR EXECUTION ROADMAP  2026 –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>
                <a:solidFill>
                  <a:srgbClr val="D9C49A"/>
                </a:solidFill>
              </a:rPr>
              <a:t>Sequenced deliberately — fix the foundation before adding premium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2240280" cy="5715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2240280" cy="658368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29184" y="1078992"/>
            <a:ext cx="2093976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2026
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737360"/>
            <a:ext cx="2057400" cy="27823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• Mobile ordering launch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  <a:p>
            <a:pPr algn="l"/>
            <a:r>
              <a:rPr sz="1100" b="0" dirty="0">
                <a:solidFill>
                  <a:srgbClr val="FFFFFF"/>
                </a:solidFill>
              </a:rPr>
              <a:t>• Parking bundled in season packages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  <a:p>
            <a:pPr algn="l"/>
            <a:r>
              <a:rPr sz="1100" b="0" dirty="0">
                <a:solidFill>
                  <a:srgbClr val="FFFFFF"/>
                </a:solidFill>
              </a:rPr>
              <a:t>• Member fast-track entry lanes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  <a:p>
            <a:pPr algn="l"/>
            <a:r>
              <a:rPr sz="1100" b="0" dirty="0">
                <a:solidFill>
                  <a:srgbClr val="FFFFFF"/>
                </a:solidFill>
              </a:rPr>
              <a:t>• Win-back campaign (target: 600 fans)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  <a:p>
            <a:pPr algn="l"/>
            <a:r>
              <a:rPr sz="1100" b="0" dirty="0">
                <a:solidFill>
                  <a:srgbClr val="FFFFFF"/>
                </a:solidFill>
              </a:rPr>
              <a:t>• CRM data audit and integration kick-off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  <a:p>
            <a:pPr algn="l"/>
            <a:r>
              <a:rPr sz="1100" b="0" dirty="0">
                <a:solidFill>
                  <a:srgbClr val="FFFFFF"/>
                </a:solidFill>
              </a:rPr>
              <a:t>• Quarterly feedback reporting cadence</a:t>
            </a:r>
          </a:p>
          <a:p>
            <a:pPr algn="l"/>
            <a:endParaRPr sz="1100" b="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06039" y="1051560"/>
            <a:ext cx="2240280" cy="5715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Rectangle 10"/>
          <p:cNvSpPr/>
          <p:nvPr/>
        </p:nvSpPr>
        <p:spPr>
          <a:xfrm>
            <a:off x="2606039" y="1051560"/>
            <a:ext cx="2240280" cy="658368"/>
          </a:xfrm>
          <a:prstGeom prst="rect">
            <a:avLst/>
          </a:prstGeom>
          <a:solidFill>
            <a:srgbClr val="A3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2679191" y="1078992"/>
            <a:ext cx="2093976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2027
ACCELERATION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737360"/>
            <a:ext cx="2057400" cy="227446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F&amp;B Premium Package launch (in-seat)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Membership: Silver/Gold/Platinum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CRM fan profiles fully operational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First dynamic pricing test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ACFC cross-sell integration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6048" y="1051560"/>
            <a:ext cx="2240280" cy="5715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ectangle 14"/>
          <p:cNvSpPr/>
          <p:nvPr/>
        </p:nvSpPr>
        <p:spPr>
          <a:xfrm>
            <a:off x="4956048" y="1051560"/>
            <a:ext cx="224028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029200" y="1078992"/>
            <a:ext cx="2093976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C39E6A"/>
                </a:solidFill>
              </a:rPr>
              <a:t>2028
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737360"/>
            <a:ext cx="2057400" cy="244374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Seating inventory restructure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Spend-based loyalty fully operational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Personalized offer engine (behavioral)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Vendor partnership renegotiation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Mid-plan KPI review and recalibration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06055" y="1051560"/>
            <a:ext cx="2240280" cy="5715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ectangle 18"/>
          <p:cNvSpPr/>
          <p:nvPr/>
        </p:nvSpPr>
        <p:spPr>
          <a:xfrm>
            <a:off x="7306055" y="1051560"/>
            <a:ext cx="2240280" cy="65836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7379207" y="1078992"/>
            <a:ext cx="2093976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C39E6A"/>
                </a:solidFill>
              </a:rPr>
              <a:t>2029
PREMIUM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1737360"/>
            <a:ext cx="2057400" cy="2105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Platinum Membership tier launch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Premium Day Pass: all home matches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Fan LTV dashboard for exec reporting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Venue capital improvement plan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56063" y="1051560"/>
            <a:ext cx="2240280" cy="571500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ectangle 22"/>
          <p:cNvSpPr/>
          <p:nvPr/>
        </p:nvSpPr>
        <p:spPr>
          <a:xfrm>
            <a:off x="9656063" y="1051560"/>
            <a:ext cx="22402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9729215" y="1078992"/>
            <a:ext cx="2093976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C39E6A"/>
                </a:solidFill>
              </a:rPr>
              <a:t>2030
CONSOLIDATION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1737360"/>
            <a:ext cx="2057400" cy="19359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Full premium seating expansion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Season review: $700+ target met?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5-year retrospective for ownership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• Design next plan cycle with full data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217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C39E6A"/>
                </a:solidFill>
              </a:rPr>
              <a:t>HOW WE MEASURE SUCCESS — METRICS THAT ACTUALLY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0080"/>
            <a:ext cx="1170432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000" b="0" dirty="0">
                <a:solidFill>
                  <a:srgbClr val="D9C49A"/>
                </a:solidFill>
              </a:rPr>
              <a:t>Leading indicators and lagging outcomes — tracked quarterly from 2026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12188952" cy="4572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2807208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2807208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29184" y="1078992"/>
            <a:ext cx="26609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FAN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81328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20624" y="1527048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F&amp;B complaint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810512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&lt; 8% by end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103120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from 16.1%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688336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420624" y="2734056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Parking mention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3017520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&lt; 7% by end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310128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from 13.8%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895344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20624" y="3941063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Entry wait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4224528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&lt; 8 minutes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4517136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new 2026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5102352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420624" y="5148072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Net Promoter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5431536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per-event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5724144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measure from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051560"/>
            <a:ext cx="2807208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Rectangle 25"/>
          <p:cNvSpPr/>
          <p:nvPr/>
        </p:nvSpPr>
        <p:spPr>
          <a:xfrm>
            <a:off x="3200400" y="1051560"/>
            <a:ext cx="2807208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3273552" y="1078992"/>
            <a:ext cx="26609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1481328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3364992" y="1527048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Avg spend per fan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1810512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$700 by 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2103120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from $441 today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688336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3364992" y="2734056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Revenue per premium seat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3017520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+20%/yr 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3310128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2026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895344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3364992" y="3941063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F&amp;B revenue per fan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224528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separate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4517136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integration required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5102352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3364992" y="5148072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Total event revenue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5431536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by event 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64992" y="5724144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MLS/ACFC/concert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4768" y="1051560"/>
            <a:ext cx="2807208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Rectangle 44"/>
          <p:cNvSpPr/>
          <p:nvPr/>
        </p:nvSpPr>
        <p:spPr>
          <a:xfrm>
            <a:off x="6144768" y="1051560"/>
            <a:ext cx="2807208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6217920" y="1078992"/>
            <a:ext cx="26609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FAN ENGAGEMENT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1481328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6309360" y="1527048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Survey volume YoY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810512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2,500+ by 2028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103120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from 1,189 in 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2688336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51"/>
          <p:cNvSpPr txBox="1"/>
          <p:nvPr/>
        </p:nvSpPr>
        <p:spPr>
          <a:xfrm>
            <a:off x="6309360" y="2734056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Repeat attendance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017520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3+ matches/season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310128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% of total fans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8" y="3895344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TextBox 55"/>
          <p:cNvSpPr txBox="1"/>
          <p:nvPr/>
        </p:nvSpPr>
        <p:spPr>
          <a:xfrm>
            <a:off x="6309360" y="3941063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Lapsed fan re-activation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224528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600 in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517136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via win-back campaign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6208" y="5102352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TextBox 59"/>
          <p:cNvSpPr txBox="1"/>
          <p:nvPr/>
        </p:nvSpPr>
        <p:spPr>
          <a:xfrm>
            <a:off x="6309360" y="5148072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Membership upgrade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431536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30% Gold/Plat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724144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by end 2027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9136" y="1051560"/>
            <a:ext cx="2807208" cy="5532120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4" name="Rectangle 63"/>
          <p:cNvSpPr/>
          <p:nvPr/>
        </p:nvSpPr>
        <p:spPr>
          <a:xfrm>
            <a:off x="9089136" y="1051560"/>
            <a:ext cx="2807208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5" name="TextBox 64"/>
          <p:cNvSpPr txBox="1"/>
          <p:nvPr/>
        </p:nvSpPr>
        <p:spPr>
          <a:xfrm>
            <a:off x="9162288" y="1078992"/>
            <a:ext cx="266090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INFRA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0576" y="1481328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TextBox 66"/>
          <p:cNvSpPr txBox="1"/>
          <p:nvPr/>
        </p:nvSpPr>
        <p:spPr>
          <a:xfrm>
            <a:off x="9253728" y="1527048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Fans with CRM profile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3728" y="1810512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60% by end 2027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53728" y="2103120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baseline audit Q1 2026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0576" y="2688336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1" name="TextBox 70"/>
          <p:cNvSpPr txBox="1"/>
          <p:nvPr/>
        </p:nvSpPr>
        <p:spPr>
          <a:xfrm>
            <a:off x="9253728" y="2734056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Mobile ordering adoption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53728" y="3017520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25% of F&amp;B txns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3728" y="3310128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by end 2026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80576" y="3895344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74"/>
          <p:cNvSpPr txBox="1"/>
          <p:nvPr/>
        </p:nvSpPr>
        <p:spPr>
          <a:xfrm>
            <a:off x="9253728" y="3941063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Survey → analysis time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4224528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&lt; 48 hours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3728" y="4517136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automated pipeline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0576" y="5102352"/>
            <a:ext cx="2624328" cy="1078992"/>
          </a:xfrm>
          <a:prstGeom prst="rect">
            <a:avLst/>
          </a:prstGeom>
          <a:solidFill>
            <a:srgbClr val="1E1E1E"/>
          </a:solidFill>
          <a:ln w="19050">
            <a:solidFill>
              <a:srgbClr val="A38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9" name="TextBox 78"/>
          <p:cNvSpPr txBox="1"/>
          <p:nvPr/>
        </p:nvSpPr>
        <p:spPr>
          <a:xfrm>
            <a:off x="9253728" y="5148072"/>
            <a:ext cx="2478024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 integrations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53728" y="5431536"/>
            <a:ext cx="2478024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b="1">
                <a:solidFill>
                  <a:srgbClr val="C39E6A"/>
                </a:solidFill>
              </a:rPr>
              <a:t>TM + SF + POS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53728" y="5724144"/>
            <a:ext cx="2478024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D9C49A"/>
                </a:solidFill>
              </a:rPr>
              <a:t>operational by 2027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640312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C39E6A"/>
                </a:solidFill>
              </a:rPr>
              <a:t>WHY THIS PLAN.  WHY NOW.  WHY 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256032" y="960120"/>
            <a:ext cx="3794760" cy="3977639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Rectangle 7"/>
          <p:cNvSpPr/>
          <p:nvPr/>
        </p:nvSpPr>
        <p:spPr>
          <a:xfrm>
            <a:off x="256032" y="960120"/>
            <a:ext cx="3794760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347472" y="987552"/>
            <a:ext cx="3611880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WHY THIS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3611880" cy="15819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The data has already told us what fans want. Faster food. Less parking stress. A reason to spend more. None of that requires a new stadium or a $50M budget. It requires listening to the data, sequencing fixes correctly, and measuring relentlessly. This plan is built entirely from signals in LAFC's own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960120"/>
            <a:ext cx="3794760" cy="3977639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Rectangle 11"/>
          <p:cNvSpPr/>
          <p:nvPr/>
        </p:nvSpPr>
        <p:spPr>
          <a:xfrm>
            <a:off x="4242816" y="960120"/>
            <a:ext cx="3794760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4334256" y="987552"/>
            <a:ext cx="3611880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WHY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371600"/>
            <a:ext cx="3611880" cy="136652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2025 is a recovery year — survey volume is up, spend per fan is at an all-time high of $441. This is the best possible moment to invest. Fan sentiment is not yet damaged. The window to build loyalty before the next championship cycle is open right 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94760" cy="3977639"/>
          </a:xfrm>
          <a:prstGeom prst="rect">
            <a:avLst/>
          </a:prstGeom>
          <a:solidFill>
            <a:srgbClr val="262626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Rectangle 15"/>
          <p:cNvSpPr/>
          <p:nvPr/>
        </p:nvSpPr>
        <p:spPr>
          <a:xfrm>
            <a:off x="8229600" y="960120"/>
            <a:ext cx="3794760" cy="347472"/>
          </a:xfrm>
          <a:prstGeom prst="rect">
            <a:avLst/>
          </a:prstGeom>
          <a:solidFill>
            <a:srgbClr val="C3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8321040" y="987552"/>
            <a:ext cx="3611880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WHY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371600"/>
            <a:ext cx="3611880" cy="17974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 approached this the same way I'd approach every project: with curiosity about what the data actually says, rigor about not overstating conclusions, and genuine interest in the business — not just the numbers. I built this from scratch, surfaced findings I didn't expect, and built a plan I can defend data point by data 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5084064"/>
            <a:ext cx="11676888" cy="1517904"/>
          </a:xfrm>
          <a:prstGeom prst="rect">
            <a:avLst/>
          </a:prstGeom>
          <a:solidFill>
            <a:srgbClr val="1E1E1E"/>
          </a:solidFill>
          <a:ln w="19050">
            <a:solidFill>
              <a:srgbClr val="C39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47472" y="5139179"/>
            <a:ext cx="11494008" cy="1280351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 algn="ctr"/>
            <a:r>
              <a:rPr sz="1400" b="1" dirty="0">
                <a:solidFill>
                  <a:srgbClr val="C39E6A"/>
                </a:solidFill>
              </a:rPr>
              <a:t>THE 2030 GOAL</a:t>
            </a:r>
          </a:p>
          <a:p>
            <a:pPr algn="ctr"/>
            <a:r>
              <a:rPr sz="2400" b="1" dirty="0">
                <a:solidFill>
                  <a:srgbClr val="FFFFFF"/>
                </a:solidFill>
              </a:rPr>
              <a:t>Average spend per fan</a:t>
            </a:r>
            <a:r>
              <a:rPr lang="en-US" sz="2400" b="1" dirty="0">
                <a:solidFill>
                  <a:srgbClr val="FFFFFF"/>
                </a:solidFill>
              </a:rPr>
              <a:t> per visit</a:t>
            </a:r>
            <a:r>
              <a:rPr sz="2400" b="1" dirty="0">
                <a:solidFill>
                  <a:srgbClr val="FFFFFF"/>
                </a:solidFill>
              </a:rPr>
              <a:t>:  $441  →  $700+</a:t>
            </a:r>
          </a:p>
          <a:p>
            <a:pPr algn="ctr"/>
            <a:r>
              <a:rPr sz="2400" b="1" dirty="0">
                <a:solidFill>
                  <a:srgbClr val="FFFFFF"/>
                </a:solidFill>
              </a:rPr>
              <a:t>Survey volume:  1,189  →  2,500+ per year</a:t>
            </a:r>
          </a:p>
          <a:p>
            <a:pPr algn="ctr"/>
            <a:r>
              <a:rPr sz="1400" b="0" dirty="0">
                <a:solidFill>
                  <a:srgbClr val="D9C49A"/>
                </a:solidFill>
              </a:rPr>
              <a:t>LAFC becomes the benchmark for fan experience in Major League Soccer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5783</TotalTime>
  <Words>3062</Words>
  <Application>Microsoft Office PowerPoint</Application>
  <PresentationFormat>Custom</PresentationFormat>
  <Paragraphs>542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Garcia Gallego, David</cp:lastModifiedBy>
  <cp:revision>6</cp:revision>
  <dcterms:created xsi:type="dcterms:W3CDTF">2013-01-27T09:14:16Z</dcterms:created>
  <dcterms:modified xsi:type="dcterms:W3CDTF">2026-04-23T01:22:17Z</dcterms:modified>
  <cp:category/>
</cp:coreProperties>
</file>